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58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705B3-3447-42AD-8C36-664A3259B966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1B9CE-CFE3-400A-81A9-FE7FFD496F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558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F04C405D-F600-AD89-B7F5-3377D81F44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90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defTabSz="990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fld id="{A39906B2-984A-45DF-8C48-38C29632ECDD}" type="slidenum">
              <a:rPr lang="en-US" altLang="it-IT" sz="1300" i="0">
                <a:solidFill>
                  <a:schemeClr val="tx1"/>
                </a:solidFill>
                <a:latin typeface="Times" panose="02020603050405020304" pitchFamily="18" charset="0"/>
              </a:rPr>
              <a:pPr/>
              <a:t>1</a:t>
            </a:fld>
            <a:r>
              <a:rPr lang="en-US" altLang="it-IT" sz="1300" i="0">
                <a:solidFill>
                  <a:schemeClr val="tx1"/>
                </a:solidFill>
                <a:latin typeface="Times" panose="02020603050405020304" pitchFamily="18" charset="0"/>
              </a:rPr>
              <a:t>   </a:t>
            </a:r>
          </a:p>
          <a:p>
            <a:pPr algn="r"/>
            <a:endParaRPr lang="en-US" altLang="it-IT" sz="1300" i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E8DA55F-9D01-34DD-F921-72570F6660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A1880B8D-8088-0D40-A9F7-F62A4A7F8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9FCB8A-32CF-73D9-D9AE-316F9851D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ED6E921-213D-1AFA-1642-FB3E202B6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1DEC35-9D05-370A-96B5-DD58017E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EB892D-D01D-98AD-7BEE-AB49A10F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1DF3CB-0664-7CA6-55F3-A5B5397D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993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CDA00C-D5A9-5E55-DB9F-8A888023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FBAF48-F67B-7938-5787-BD5C1E565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1C63155-A17D-062F-C99E-4B38C954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583B6C-6B04-6B69-E501-E439CF3A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502034-91DC-482A-7AFF-C74D2B52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50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3487A2-678B-8872-4056-140E3D43A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2C35D2-D5D7-55CB-CA28-3BA969F4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55CEDC0-BA68-D643-A1B8-068CDAD0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BBE48F-F82D-A64C-6289-1098B55A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7704F6-FB4F-2978-F916-ABA2D9A5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550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7B6EF1-C762-F1B6-DCBA-CF57D7A0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A07230-D94B-D021-5CF2-9BE2EB9F2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37E49C0-202C-4D91-1384-839E7B19A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8DBA489-5292-CFEE-9548-95341318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2E3BF63-3858-610D-9A1D-2C655F68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D331A6-E6AE-23B1-FC9F-53A385BB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805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74DE7C-9625-62EF-2FCD-57DF8E84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7112A5-8D97-9FFE-3F3C-A6DBA4332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E234C0B-2E19-64D3-21DB-DA2940903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E7A4A13-E415-7402-E697-4F75D9A2B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2750D1-8E4D-F12E-8633-226341143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C585E33-0602-3652-B64A-A2280991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F5E87A5-9655-06C1-DD77-5E95D2606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50BE514-397C-0BC5-028B-DD87885A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272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B22F7C-088E-24A6-0831-B83AF1EB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78BD06F-3C0B-026E-C607-6F447E25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C414F93-1193-F58A-1FB3-328EF1B8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1F14878-115C-896C-33B0-3E854A3E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411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256B461-B96C-5C80-64BA-4334AE4D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88131B7-9356-0704-25B8-157DC1AB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7B36288-A7B4-92E9-55D7-5D2BF81C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8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BEB8C8-3182-194E-D222-2E16652A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979077-463E-D6DA-A2A8-3F1E8F431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3CB4752-D458-1006-7411-285677080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550F7E1-B805-DBCD-06CA-E9E57A86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F95660D-2D6A-B443-AAA6-419B42D1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876EC56-FAF2-0616-F8D5-0DDE83B7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9301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66C160-41EE-1396-FF35-529872AD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23EFB2E-10F2-3940-7FFE-4D8E28160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D32E2D6-90ED-7563-D319-C26387E1D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E9F184-4541-7B15-E872-42E12F70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780C30-EE4D-122A-FA12-08ADF1996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5CF1152-ECCE-EFE9-0E15-B47EB983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1315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891AB-6232-2377-3B97-5DCE961C9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943057D-7E95-95EF-133C-EE8D1EB47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B3DF04-D05D-2CE2-CC1C-119602842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055581-3A11-83EE-51CF-4B793102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76F0B7-266D-9C87-77BF-C074088C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900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C46E3CC-4BA5-105B-6834-2243BD578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5B8FD98-0AB8-02A7-089B-EDE20320F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AAFDD8-64FE-7474-277D-9BC3C31C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90E8A4-721A-B01C-AC93-872BCAE23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6C5586-87A6-6126-E942-777964D9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602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A13E627-1372-111D-6FC7-2D600BB2D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4B2E3E2-BF85-7C74-084B-819B3D410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39167A-C60E-F094-6FB5-450EE0011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90CA8-0C9C-4728-AF4A-92DD3D24B1C2}" type="datetimeFigureOut">
              <a:rPr lang="it-IT" smtClean="0"/>
              <a:t>30/06/2023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E7A805-DBF2-6A93-2C46-130FAE225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AE29D2-7807-6BFF-19A3-6392B6AF8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635A0-1A01-427A-A129-6946ED5A54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4935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egnaposto piè di pagina 2">
            <a:extLst>
              <a:ext uri="{FF2B5EF4-FFF2-40B4-BE49-F238E27FC236}">
                <a16:creationId xmlns:a16="http://schemas.microsoft.com/office/drawing/2014/main" id="{49E6CADC-7C20-5F57-D2A4-5771C7FC96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1"/>
                </a:solidFill>
              </a:rPr>
              <a:t>Negoziare e Gestire i Progetti estremi</a:t>
            </a:r>
            <a:r>
              <a:rPr lang="en-US" altLang="en-US" sz="1600" i="0">
                <a:solidFill>
                  <a:schemeClr val="bg1"/>
                </a:solidFill>
              </a:rPr>
              <a:t> di Antonio Piemontese</a:t>
            </a:r>
            <a:endParaRPr lang="en-US" altLang="en-US" sz="1600" i="0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70659" name="Segnaposto data 3">
            <a:extLst>
              <a:ext uri="{FF2B5EF4-FFF2-40B4-BE49-F238E27FC236}">
                <a16:creationId xmlns:a16="http://schemas.microsoft.com/office/drawing/2014/main" id="{BD4341BA-FC75-7526-19D4-6DC838F3E7B9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it-IT" sz="1600" i="0">
                <a:solidFill>
                  <a:schemeClr val="bg1"/>
                </a:solidFill>
              </a:rPr>
              <a:t>Marzo 2004</a:t>
            </a:r>
            <a:endParaRPr lang="en-US" altLang="en-US" sz="1600" i="0">
              <a:solidFill>
                <a:schemeClr val="bg1"/>
              </a:solidFill>
            </a:endParaRPr>
          </a:p>
        </p:txBody>
      </p:sp>
      <p:sp>
        <p:nvSpPr>
          <p:cNvPr id="70660" name="Segnaposto numero diapositiva 4">
            <a:extLst>
              <a:ext uri="{FF2B5EF4-FFF2-40B4-BE49-F238E27FC236}">
                <a16:creationId xmlns:a16="http://schemas.microsoft.com/office/drawing/2014/main" id="{174C2A94-CAAA-00D2-8215-8B26C227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fld id="{AADA6CE3-32B0-4A4B-8F3F-A14ADE56A49E}" type="slidenum">
              <a:rPr lang="en-US" altLang="en-US" sz="2400" i="0">
                <a:solidFill>
                  <a:schemeClr val="bg1"/>
                </a:solidFill>
                <a:latin typeface="Times" panose="02020603050405020304" pitchFamily="18" charset="0"/>
              </a:rPr>
              <a:pPr/>
              <a:t>1</a:t>
            </a:fld>
            <a:endParaRPr lang="en-US" altLang="en-US" sz="2400" i="0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70661" name="Rectangle 2">
            <a:extLst>
              <a:ext uri="{FF2B5EF4-FFF2-40B4-BE49-F238E27FC236}">
                <a16:creationId xmlns:a16="http://schemas.microsoft.com/office/drawing/2014/main" id="{56292916-4014-8C4D-1A63-65FF5C9D3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1400" y="-228600"/>
            <a:ext cx="7010400" cy="1143000"/>
          </a:xfrm>
        </p:spPr>
        <p:txBody>
          <a:bodyPr>
            <a:normAutofit fontScale="90000"/>
          </a:bodyPr>
          <a:lstStyle/>
          <a:p>
            <a:r>
              <a:rPr lang="it-IT" altLang="it-IT">
                <a:solidFill>
                  <a:schemeClr val="accent2"/>
                </a:solidFill>
              </a:rPr>
              <a:t>Il partizionamento nel waterfall</a:t>
            </a:r>
          </a:p>
        </p:txBody>
      </p:sp>
      <p:sp>
        <p:nvSpPr>
          <p:cNvPr id="70662" name="Text Box 3">
            <a:extLst>
              <a:ext uri="{FF2B5EF4-FFF2-40B4-BE49-F238E27FC236}">
                <a16:creationId xmlns:a16="http://schemas.microsoft.com/office/drawing/2014/main" id="{2B8CA9E5-F7C1-F830-90BF-BEA6CCB3F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171700"/>
            <a:ext cx="34290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it-IT" altLang="it-IT" sz="1600" b="1" i="0">
                <a:solidFill>
                  <a:schemeClr val="tx1"/>
                </a:solidFill>
                <a:latin typeface="Times" panose="02020603050405020304" pitchFamily="18" charset="0"/>
              </a:rPr>
              <a:t>1) Definizione dei Requisiti e Modello dati globale </a:t>
            </a:r>
          </a:p>
          <a:p>
            <a:pPr>
              <a:spcBef>
                <a:spcPct val="50000"/>
              </a:spcBef>
            </a:pPr>
            <a:r>
              <a:rPr lang="it-IT" altLang="it-IT" sz="1600" b="1" i="0">
                <a:solidFill>
                  <a:schemeClr val="tx1"/>
                </a:solidFill>
                <a:latin typeface="Times" panose="02020603050405020304" pitchFamily="18" charset="0"/>
              </a:rPr>
              <a:t>    2)  Architettura </a:t>
            </a:r>
          </a:p>
          <a:p>
            <a:pPr>
              <a:spcBef>
                <a:spcPct val="50000"/>
              </a:spcBef>
            </a:pPr>
            <a:r>
              <a:rPr lang="it-IT" altLang="it-IT" sz="1600" b="1" i="0">
                <a:solidFill>
                  <a:schemeClr val="tx1"/>
                </a:solidFill>
                <a:latin typeface="Times" panose="02020603050405020304" pitchFamily="18" charset="0"/>
              </a:rPr>
              <a:t>        3)  Disegno (di alto livello)</a:t>
            </a:r>
          </a:p>
        </p:txBody>
      </p:sp>
      <p:sp>
        <p:nvSpPr>
          <p:cNvPr id="70663" name="AutoShape 4">
            <a:extLst>
              <a:ext uri="{FF2B5EF4-FFF2-40B4-BE49-F238E27FC236}">
                <a16:creationId xmlns:a16="http://schemas.microsoft.com/office/drawing/2014/main" id="{247F76FE-F27A-9166-86E2-A048F68F1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196535"/>
            <a:ext cx="304800" cy="1039356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CC0000"/>
          </a:solidFill>
          <a:ln w="12700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70664" name="Line 5">
            <a:extLst>
              <a:ext uri="{FF2B5EF4-FFF2-40B4-BE49-F238E27FC236}">
                <a16:creationId xmlns:a16="http://schemas.microsoft.com/office/drawing/2014/main" id="{2FD96F3A-BF16-3305-5C1B-ECD293BF7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297113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65" name="Line 6">
            <a:extLst>
              <a:ext uri="{FF2B5EF4-FFF2-40B4-BE49-F238E27FC236}">
                <a16:creationId xmlns:a16="http://schemas.microsoft.com/office/drawing/2014/main" id="{B6009802-B5D6-FCEE-7DC8-63ED8F4A5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449513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66" name="Line 7">
            <a:extLst>
              <a:ext uri="{FF2B5EF4-FFF2-40B4-BE49-F238E27FC236}">
                <a16:creationId xmlns:a16="http://schemas.microsoft.com/office/drawing/2014/main" id="{25B0307F-A374-C781-D46E-F53022BD2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982913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67" name="Line 8">
            <a:extLst>
              <a:ext uri="{FF2B5EF4-FFF2-40B4-BE49-F238E27FC236}">
                <a16:creationId xmlns:a16="http://schemas.microsoft.com/office/drawing/2014/main" id="{B26FEDB8-E399-2370-56C4-99015747FB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678113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68" name="Line 9">
            <a:extLst>
              <a:ext uri="{FF2B5EF4-FFF2-40B4-BE49-F238E27FC236}">
                <a16:creationId xmlns:a16="http://schemas.microsoft.com/office/drawing/2014/main" id="{93B5F0A5-AF8B-B28B-86A0-77BF4680E3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297113"/>
            <a:ext cx="381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69" name="Line 10">
            <a:extLst>
              <a:ext uri="{FF2B5EF4-FFF2-40B4-BE49-F238E27FC236}">
                <a16:creationId xmlns:a16="http://schemas.microsoft.com/office/drawing/2014/main" id="{365600F2-58E7-5605-0C58-431E7AC611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449513"/>
            <a:ext cx="381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70" name="Line 11">
            <a:extLst>
              <a:ext uri="{FF2B5EF4-FFF2-40B4-BE49-F238E27FC236}">
                <a16:creationId xmlns:a16="http://schemas.microsoft.com/office/drawing/2014/main" id="{C714FE2F-A469-A3FC-81E4-7D68996FF9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67400" y="2678113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71" name="Text Box 12">
            <a:extLst>
              <a:ext uri="{FF2B5EF4-FFF2-40B4-BE49-F238E27FC236}">
                <a16:creationId xmlns:a16="http://schemas.microsoft.com/office/drawing/2014/main" id="{082A246F-2EF5-1382-C22B-6A6511CD4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687514"/>
            <a:ext cx="3200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it-IT" altLang="it-IT" sz="1600" b="1" i="0">
                <a:solidFill>
                  <a:schemeClr val="tx1"/>
                </a:solidFill>
                <a:latin typeface="Times" panose="02020603050405020304" pitchFamily="18" charset="0"/>
              </a:rPr>
              <a:t>Stream paralleli (sottoprogetti) di implementazione</a:t>
            </a:r>
          </a:p>
        </p:txBody>
      </p:sp>
      <p:sp>
        <p:nvSpPr>
          <p:cNvPr id="70672" name="AutoShape 13">
            <a:extLst>
              <a:ext uri="{FF2B5EF4-FFF2-40B4-BE49-F238E27FC236}">
                <a16:creationId xmlns:a16="http://schemas.microsoft.com/office/drawing/2014/main" id="{3E0E6876-5C4B-297C-BC16-95CB3B9CB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125913"/>
            <a:ext cx="2590800" cy="1447800"/>
          </a:xfrm>
          <a:prstGeom prst="wedgeRoundRectCallout">
            <a:avLst>
              <a:gd name="adj1" fmla="val -25736"/>
              <a:gd name="adj2" fmla="val -96051"/>
              <a:gd name="adj3" fmla="val 16667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600" i="0">
                <a:solidFill>
                  <a:schemeClr val="tx1"/>
                </a:solidFill>
                <a:latin typeface="Times" panose="02020603050405020304" pitchFamily="18" charset="0"/>
              </a:rPr>
              <a:t>Eseguita da 2 persone (1 team in progetti medio-grandi) per assicurare </a:t>
            </a:r>
            <a:r>
              <a:rPr lang="it-IT" altLang="it-IT" sz="1600" b="1" i="0">
                <a:solidFill>
                  <a:schemeClr val="tx1"/>
                </a:solidFill>
                <a:latin typeface="Times" panose="02020603050405020304" pitchFamily="18" charset="0"/>
              </a:rPr>
              <a:t>l’integrità concettuale del disegno</a:t>
            </a:r>
          </a:p>
        </p:txBody>
      </p:sp>
      <p:sp>
        <p:nvSpPr>
          <p:cNvPr id="70673" name="Line 14">
            <a:extLst>
              <a:ext uri="{FF2B5EF4-FFF2-40B4-BE49-F238E27FC236}">
                <a16:creationId xmlns:a16="http://schemas.microsoft.com/office/drawing/2014/main" id="{F50F3641-24D3-A8FA-9215-716BF801D3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1077913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74" name="Text Box 15">
            <a:extLst>
              <a:ext uri="{FF2B5EF4-FFF2-40B4-BE49-F238E27FC236}">
                <a16:creationId xmlns:a16="http://schemas.microsoft.com/office/drawing/2014/main" id="{33FF9165-BC1C-9352-11B3-81D63A1D4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35001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it-IT" altLang="it-IT" sz="1800" b="1">
                <a:solidFill>
                  <a:schemeClr val="tx1"/>
                </a:solidFill>
                <a:latin typeface="Times" panose="02020603050405020304" pitchFamily="18" charset="0"/>
              </a:rPr>
              <a:t>Punto di disaccoppiamento</a:t>
            </a:r>
          </a:p>
        </p:txBody>
      </p:sp>
      <p:sp>
        <p:nvSpPr>
          <p:cNvPr id="70675" name="AutoShape 16">
            <a:extLst>
              <a:ext uri="{FF2B5EF4-FFF2-40B4-BE49-F238E27FC236}">
                <a16:creationId xmlns:a16="http://schemas.microsoft.com/office/drawing/2014/main" id="{4F6431B9-7F0B-840E-FD38-4CDF2A9B8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120335"/>
            <a:ext cx="457200" cy="10393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12700">
            <a:solidFill>
              <a:srgbClr val="FF505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70676" name="Line 17">
            <a:extLst>
              <a:ext uri="{FF2B5EF4-FFF2-40B4-BE49-F238E27FC236}">
                <a16:creationId xmlns:a16="http://schemas.microsoft.com/office/drawing/2014/main" id="{038CCDC2-EEF2-0B5E-6136-B6010E8C10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1077913"/>
            <a:ext cx="0" cy="1600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77" name="Text Box 18">
            <a:extLst>
              <a:ext uri="{FF2B5EF4-FFF2-40B4-BE49-F238E27FC236}">
                <a16:creationId xmlns:a16="http://schemas.microsoft.com/office/drawing/2014/main" id="{5ECCB8CD-9BCE-1FE5-3098-07292E72F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09600" y="1081088"/>
            <a:ext cx="3200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it-IT" altLang="it-IT" sz="1800" b="1" i="0">
                <a:solidFill>
                  <a:schemeClr val="tx1"/>
                </a:solidFill>
                <a:latin typeface="Times" panose="02020603050405020304" pitchFamily="18" charset="0"/>
              </a:rPr>
              <a:t>Kick-off</a:t>
            </a:r>
          </a:p>
        </p:txBody>
      </p:sp>
      <p:sp>
        <p:nvSpPr>
          <p:cNvPr id="70678" name="Text Box 19">
            <a:extLst>
              <a:ext uri="{FF2B5EF4-FFF2-40B4-BE49-F238E27FC236}">
                <a16:creationId xmlns:a16="http://schemas.microsoft.com/office/drawing/2014/main" id="{6CD46DD9-C640-D659-38D7-30FA96DA9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2373313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it-IT" altLang="it-IT" sz="1800" b="1" i="0">
                <a:solidFill>
                  <a:schemeClr val="tx1"/>
                </a:solidFill>
                <a:latin typeface="Times" panose="02020603050405020304" pitchFamily="18" charset="0"/>
              </a:rPr>
              <a:t>Test - Rollout</a:t>
            </a:r>
          </a:p>
        </p:txBody>
      </p:sp>
      <p:sp>
        <p:nvSpPr>
          <p:cNvPr id="70679" name="Line 20">
            <a:extLst>
              <a:ext uri="{FF2B5EF4-FFF2-40B4-BE49-F238E27FC236}">
                <a16:creationId xmlns:a16="http://schemas.microsoft.com/office/drawing/2014/main" id="{14A9DE86-0580-7200-CF70-278C304AB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297113"/>
            <a:ext cx="457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80" name="Line 21">
            <a:extLst>
              <a:ext uri="{FF2B5EF4-FFF2-40B4-BE49-F238E27FC236}">
                <a16:creationId xmlns:a16="http://schemas.microsoft.com/office/drawing/2014/main" id="{52147B60-0690-D9FE-9A78-84BF84730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449513"/>
            <a:ext cx="457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81" name="Line 22">
            <a:extLst>
              <a:ext uri="{FF2B5EF4-FFF2-40B4-BE49-F238E27FC236}">
                <a16:creationId xmlns:a16="http://schemas.microsoft.com/office/drawing/2014/main" id="{BCF8949C-75A7-DE49-E6A0-9FCA7A6971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2601913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82" name="AutoShape 23">
            <a:extLst>
              <a:ext uri="{FF2B5EF4-FFF2-40B4-BE49-F238E27FC236}">
                <a16:creationId xmlns:a16="http://schemas.microsoft.com/office/drawing/2014/main" id="{D9C9289D-2FAF-CB14-F1E9-CEFE786CD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897313"/>
            <a:ext cx="2590800" cy="1447800"/>
          </a:xfrm>
          <a:prstGeom prst="wedgeRoundRectCallout">
            <a:avLst>
              <a:gd name="adj1" fmla="val -25736"/>
              <a:gd name="adj2" fmla="val -96051"/>
              <a:gd name="adj3" fmla="val 16667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it-IT" altLang="it-IT" sz="1600" b="1" i="0">
                <a:solidFill>
                  <a:schemeClr val="tx1"/>
                </a:solidFill>
                <a:latin typeface="Times" panose="02020603050405020304" pitchFamily="18" charset="0"/>
              </a:rPr>
              <a:t>Partizionamento funzionale.</a:t>
            </a:r>
          </a:p>
          <a:p>
            <a:pPr algn="ctr"/>
            <a:r>
              <a:rPr lang="it-IT" altLang="it-IT" sz="1600" i="0">
                <a:solidFill>
                  <a:schemeClr val="tx1"/>
                </a:solidFill>
                <a:latin typeface="Times" panose="02020603050405020304" pitchFamily="18" charset="0"/>
              </a:rPr>
              <a:t>Riduzione delle </a:t>
            </a:r>
            <a:r>
              <a:rPr lang="it-IT" altLang="it-IT" sz="1600">
                <a:solidFill>
                  <a:schemeClr val="tx1"/>
                </a:solidFill>
                <a:latin typeface="Times" panose="02020603050405020304" pitchFamily="18" charset="0"/>
              </a:rPr>
              <a:t>interdipendenze</a:t>
            </a:r>
            <a:r>
              <a:rPr lang="it-IT" altLang="it-IT" sz="1600" i="0">
                <a:solidFill>
                  <a:schemeClr val="tx1"/>
                </a:solidFill>
                <a:latin typeface="Times" panose="02020603050405020304" pitchFamily="18" charset="0"/>
              </a:rPr>
              <a:t> e delle </a:t>
            </a:r>
            <a:r>
              <a:rPr lang="it-IT" altLang="it-IT" sz="1600">
                <a:solidFill>
                  <a:schemeClr val="tx1"/>
                </a:solidFill>
                <a:latin typeface="Times" panose="02020603050405020304" pitchFamily="18" charset="0"/>
              </a:rPr>
              <a:t>interfacce</a:t>
            </a:r>
            <a:r>
              <a:rPr lang="it-IT" altLang="it-IT" sz="1600" i="0">
                <a:solidFill>
                  <a:schemeClr val="tx1"/>
                </a:solidFill>
                <a:latin typeface="Times" panose="02020603050405020304" pitchFamily="18" charset="0"/>
              </a:rPr>
              <a:t> tra stream.</a:t>
            </a:r>
            <a:endParaRPr lang="it-IT" altLang="it-IT" sz="160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70683" name="Line 24">
            <a:extLst>
              <a:ext uri="{FF2B5EF4-FFF2-40B4-BE49-F238E27FC236}">
                <a16:creationId xmlns:a16="http://schemas.microsoft.com/office/drawing/2014/main" id="{B321A36B-0BC8-D5B6-107E-7A8532BFB2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1063625"/>
            <a:ext cx="0" cy="1309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70684" name="Text Box 25">
            <a:extLst>
              <a:ext uri="{FF2B5EF4-FFF2-40B4-BE49-F238E27FC236}">
                <a16:creationId xmlns:a16="http://schemas.microsoft.com/office/drawing/2014/main" id="{8F186DE5-1EAB-8C6F-424C-A05FC54FE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20713"/>
            <a:ext cx="3200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it-IT" altLang="it-IT" sz="1800" b="1">
                <a:solidFill>
                  <a:schemeClr val="tx1"/>
                </a:solidFill>
                <a:latin typeface="Times" panose="02020603050405020304" pitchFamily="18" charset="0"/>
              </a:rPr>
              <a:t>Punto di sync</a:t>
            </a:r>
          </a:p>
        </p:txBody>
      </p:sp>
      <p:sp>
        <p:nvSpPr>
          <p:cNvPr id="70685" name="AutoShape 26">
            <a:extLst>
              <a:ext uri="{FF2B5EF4-FFF2-40B4-BE49-F238E27FC236}">
                <a16:creationId xmlns:a16="http://schemas.microsoft.com/office/drawing/2014/main" id="{2DA503C1-6963-4996-44D1-B19E48603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2120335"/>
            <a:ext cx="259766" cy="1039356"/>
          </a:xfrm>
          <a:prstGeom prst="rightArrow">
            <a:avLst>
              <a:gd name="adj1" fmla="val 50000"/>
              <a:gd name="adj2" fmla="val 58333"/>
            </a:avLst>
          </a:prstGeom>
          <a:solidFill>
            <a:srgbClr val="CC0000"/>
          </a:solidFill>
          <a:ln w="12700">
            <a:solidFill>
              <a:srgbClr val="FF505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1430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4pPr>
            <a:lvl5pPr marL="2057400" indent="-228600"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i="1">
                <a:solidFill>
                  <a:schemeClr val="accent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</vt:lpstr>
      <vt:lpstr>Tema di Office</vt:lpstr>
      <vt:lpstr>Il partizionamento nel waterfall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partizionamento nel waterfall</dc:title>
  <dc:creator>Antonio Piemontese</dc:creator>
  <cp:lastModifiedBy>Antonio Piemontese</cp:lastModifiedBy>
  <cp:revision>1</cp:revision>
  <dcterms:created xsi:type="dcterms:W3CDTF">2023-06-30T15:42:35Z</dcterms:created>
  <dcterms:modified xsi:type="dcterms:W3CDTF">2023-06-30T15:46:51Z</dcterms:modified>
</cp:coreProperties>
</file>